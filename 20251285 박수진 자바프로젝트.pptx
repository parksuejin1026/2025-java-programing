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PT Serif"/>
      <p:regular r:id="rId21"/>
      <p:bold r:id="rId22"/>
      <p:italic r:id="rId23"/>
      <p:boldItalic r:id="rId24"/>
    </p:embeddedFont>
    <p:embeddedFont>
      <p:font typeface="DM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TSerif-bold.fntdata"/><Relationship Id="rId21" Type="http://schemas.openxmlformats.org/officeDocument/2006/relationships/font" Target="fonts/PTSerif-regular.fntdata"/><Relationship Id="rId24" Type="http://schemas.openxmlformats.org/officeDocument/2006/relationships/font" Target="fonts/PTSerif-boldItalic.fntdata"/><Relationship Id="rId23" Type="http://schemas.openxmlformats.org/officeDocument/2006/relationships/font" Target="fonts/PTSerif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DMSans-bold.fntdata"/><Relationship Id="rId25" Type="http://schemas.openxmlformats.org/officeDocument/2006/relationships/font" Target="fonts/DMSans-regular.fntdata"/><Relationship Id="rId28" Type="http://schemas.openxmlformats.org/officeDocument/2006/relationships/font" Target="fonts/DMSans-boldItalic.fntdata"/><Relationship Id="rId27" Type="http://schemas.openxmlformats.org/officeDocument/2006/relationships/font" Target="fonts/DM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f8a69db52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f8a69db52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f8a69db52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f8a69db5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f8a69db52_1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f8a69db52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f8a69db52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f8a69db52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f8a69db52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f8a69db52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f8a69db52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f8a69db52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f8a69db52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f8a69db52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f8a69db52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f8a69db52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f8a69db52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f8a69db52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f8a69db52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f8a69db52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f8a69db52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f8a69db52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f8a69db52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f8a69db52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6c1f91c3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6c1f91c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6c1f91c3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a6c1f91c3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20.png"/><Relationship Id="rId7" Type="http://schemas.openxmlformats.org/officeDocument/2006/relationships/image" Target="../media/image18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28.png"/><Relationship Id="rId6" Type="http://schemas.openxmlformats.org/officeDocument/2006/relationships/image" Target="../media/image26.png"/><Relationship Id="rId7" Type="http://schemas.openxmlformats.org/officeDocument/2006/relationships/image" Target="../media/image16.png"/><Relationship Id="rId8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27.png"/><Relationship Id="rId5" Type="http://schemas.openxmlformats.org/officeDocument/2006/relationships/image" Target="../media/image29.png"/><Relationship Id="rId6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3429000" y="0"/>
            <a:ext cx="57150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4650"/>
              <a:buFont typeface="PT Serif"/>
              <a:buNone/>
            </a:pPr>
            <a:r>
              <a:rPr b="1" i="0" lang="ko" sz="305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객체지향 도서</a:t>
            </a:r>
            <a:r>
              <a:rPr b="1" lang="ko" sz="3050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관</a:t>
            </a:r>
            <a:r>
              <a:rPr b="1" i="0" lang="ko" sz="3050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 관리 시스템</a:t>
            </a:r>
            <a:endParaRPr b="1" i="0" sz="3050" u="none" cap="none" strike="noStrike"/>
          </a:p>
        </p:txBody>
      </p:sp>
      <p:sp>
        <p:nvSpPr>
          <p:cNvPr id="56" name="Google Shape;56;p13"/>
          <p:cNvSpPr/>
          <p:nvPr/>
        </p:nvSpPr>
        <p:spPr>
          <a:xfrm>
            <a:off x="7306492" y="4780500"/>
            <a:ext cx="18375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b="0" i="0" lang="ko" sz="1750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20251285 박수진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0" y="139600"/>
            <a:ext cx="29586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875"/>
              <a:buFont typeface="PT Serif"/>
              <a:buNone/>
            </a:pPr>
            <a:r>
              <a:rPr b="1" i="0" lang="ko" sz="2874" u="none" cap="none" strike="noStrik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프로젝트 구조</a:t>
            </a:r>
            <a:endParaRPr b="1" i="0" sz="2874" u="none" cap="none" strike="noStrike"/>
          </a:p>
        </p:txBody>
      </p:sp>
      <p:sp>
        <p:nvSpPr>
          <p:cNvPr id="62" name="Google Shape;62;p14"/>
          <p:cNvSpPr/>
          <p:nvPr/>
        </p:nvSpPr>
        <p:spPr>
          <a:xfrm>
            <a:off x="0" y="738140"/>
            <a:ext cx="2958600" cy="1375200"/>
          </a:xfrm>
          <a:prstGeom prst="roundRect">
            <a:avLst>
              <a:gd fmla="val 1525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65700" lIns="65700" spcFirstLastPara="1" rIns="65700" wrap="square" tIns="6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133988" y="877864"/>
            <a:ext cx="402300" cy="419400"/>
          </a:xfrm>
          <a:prstGeom prst="roundRect">
            <a:avLst>
              <a:gd fmla="val 15668713" name="adj"/>
            </a:avLst>
          </a:prstGeom>
          <a:solidFill>
            <a:srgbClr val="E04F00"/>
          </a:solidFill>
          <a:ln>
            <a:noFill/>
          </a:ln>
        </p:spPr>
        <p:txBody>
          <a:bodyPr anchorCtr="0" anchor="ctr" bIns="65700" lIns="65700" spcFirstLastPara="1" rIns="65700" wrap="square" tIns="6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" name="Google Shape;6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593" y="993118"/>
            <a:ext cx="180921" cy="188667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134002" y="1436925"/>
            <a:ext cx="20547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37"/>
              <a:buFont typeface="PT Serif"/>
              <a:buNone/>
            </a:pPr>
            <a:r>
              <a:rPr b="0" i="0" lang="ko" sz="1437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LibraryServiceContract</a:t>
            </a:r>
            <a:endParaRPr b="0" i="0" sz="1437" u="none" cap="none" strike="noStrike"/>
          </a:p>
        </p:txBody>
      </p:sp>
      <p:sp>
        <p:nvSpPr>
          <p:cNvPr id="66" name="Google Shape;66;p14"/>
          <p:cNvSpPr/>
          <p:nvPr/>
        </p:nvSpPr>
        <p:spPr>
          <a:xfrm>
            <a:off x="133988" y="1750095"/>
            <a:ext cx="26907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078"/>
              <a:buFont typeface="DM Sans"/>
              <a:buNone/>
            </a:pPr>
            <a:r>
              <a:rPr b="0" i="0" lang="ko" sz="1077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기능 </a:t>
            </a:r>
            <a:r>
              <a:rPr b="0" i="0" lang="ko" sz="1077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규격 정의 인터페이스</a:t>
            </a:r>
            <a:endParaRPr b="0" i="0" sz="1077" u="none" cap="none" strike="noStrike"/>
          </a:p>
        </p:txBody>
      </p:sp>
      <p:sp>
        <p:nvSpPr>
          <p:cNvPr id="67" name="Google Shape;67;p14"/>
          <p:cNvSpPr/>
          <p:nvPr/>
        </p:nvSpPr>
        <p:spPr>
          <a:xfrm>
            <a:off x="3092645" y="738140"/>
            <a:ext cx="2958600" cy="1375200"/>
          </a:xfrm>
          <a:prstGeom prst="roundRect">
            <a:avLst>
              <a:gd fmla="val 1525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65700" lIns="65700" spcFirstLastPara="1" rIns="65700" wrap="square" tIns="6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3226633" y="877864"/>
            <a:ext cx="402300" cy="419400"/>
          </a:xfrm>
          <a:prstGeom prst="roundRect">
            <a:avLst>
              <a:gd fmla="val 15668713" name="adj"/>
            </a:avLst>
          </a:prstGeom>
          <a:solidFill>
            <a:srgbClr val="E04F00"/>
          </a:solidFill>
          <a:ln>
            <a:noFill/>
          </a:ln>
        </p:spPr>
        <p:txBody>
          <a:bodyPr anchorCtr="0" anchor="ctr" bIns="65700" lIns="65700" spcFirstLastPara="1" rIns="65700" wrap="square" tIns="6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7237" y="993118"/>
            <a:ext cx="180921" cy="188667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/>
          <p:nvPr/>
        </p:nvSpPr>
        <p:spPr>
          <a:xfrm>
            <a:off x="3226633" y="1436934"/>
            <a:ext cx="1759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37"/>
              <a:buFont typeface="PT Serif"/>
              <a:buNone/>
            </a:pPr>
            <a:r>
              <a:rPr b="0" i="0" lang="ko" sz="1437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LibraryService</a:t>
            </a:r>
            <a:endParaRPr b="0" i="0" sz="1437" u="none" cap="none" strike="noStrike"/>
          </a:p>
        </p:txBody>
      </p:sp>
      <p:sp>
        <p:nvSpPr>
          <p:cNvPr id="71" name="Google Shape;71;p14"/>
          <p:cNvSpPr/>
          <p:nvPr/>
        </p:nvSpPr>
        <p:spPr>
          <a:xfrm>
            <a:off x="3226633" y="1750095"/>
            <a:ext cx="26907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078"/>
              <a:buFont typeface="DM Sans"/>
              <a:buNone/>
            </a:pPr>
            <a:r>
              <a:rPr lang="ko" sz="107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도서관 업무를 처리하는 핵심 담당자</a:t>
            </a:r>
            <a:endParaRPr b="0" i="0" sz="1077" u="none" cap="none" strike="noStrike"/>
          </a:p>
        </p:txBody>
      </p:sp>
      <p:sp>
        <p:nvSpPr>
          <p:cNvPr id="72" name="Google Shape;72;p14"/>
          <p:cNvSpPr/>
          <p:nvPr/>
        </p:nvSpPr>
        <p:spPr>
          <a:xfrm>
            <a:off x="6185290" y="738140"/>
            <a:ext cx="2958600" cy="1375200"/>
          </a:xfrm>
          <a:prstGeom prst="roundRect">
            <a:avLst>
              <a:gd fmla="val 1525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65700" lIns="65700" spcFirstLastPara="1" rIns="65700" wrap="square" tIns="6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6319278" y="877864"/>
            <a:ext cx="402300" cy="419400"/>
          </a:xfrm>
          <a:prstGeom prst="roundRect">
            <a:avLst>
              <a:gd fmla="val 15668713" name="adj"/>
            </a:avLst>
          </a:prstGeom>
          <a:solidFill>
            <a:srgbClr val="E04F00"/>
          </a:solidFill>
          <a:ln>
            <a:noFill/>
          </a:ln>
        </p:spPr>
        <p:txBody>
          <a:bodyPr anchorCtr="0" anchor="ctr" bIns="65700" lIns="65700" spcFirstLastPara="1" rIns="65700" wrap="square" tIns="6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882" y="993118"/>
            <a:ext cx="180921" cy="188667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/>
          <p:nvPr/>
        </p:nvSpPr>
        <p:spPr>
          <a:xfrm>
            <a:off x="6319278" y="1436934"/>
            <a:ext cx="1759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37"/>
              <a:buFont typeface="PT Serif"/>
              <a:buNone/>
            </a:pPr>
            <a:r>
              <a:rPr b="0" i="0" lang="ko" sz="1437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LibraryRepository</a:t>
            </a:r>
            <a:endParaRPr b="0" i="0" sz="1437" u="none" cap="none" strike="noStrike"/>
          </a:p>
        </p:txBody>
      </p:sp>
      <p:sp>
        <p:nvSpPr>
          <p:cNvPr id="76" name="Google Shape;76;p14"/>
          <p:cNvSpPr/>
          <p:nvPr/>
        </p:nvSpPr>
        <p:spPr>
          <a:xfrm>
            <a:off x="6319278" y="1750095"/>
            <a:ext cx="26907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078"/>
              <a:buFont typeface="DM Sans"/>
              <a:buNone/>
            </a:pPr>
            <a:r>
              <a:rPr b="0" i="0" lang="ko" sz="1077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도서 </a:t>
            </a:r>
            <a:r>
              <a:rPr lang="ko" sz="107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데이터 관리 및 저</a:t>
            </a:r>
            <a:r>
              <a:rPr lang="ko" sz="107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장소</a:t>
            </a:r>
            <a:endParaRPr b="0" i="0" sz="1077" u="none" cap="none" strike="noStrike"/>
          </a:p>
        </p:txBody>
      </p:sp>
      <p:sp>
        <p:nvSpPr>
          <p:cNvPr id="77" name="Google Shape;77;p14"/>
          <p:cNvSpPr/>
          <p:nvPr/>
        </p:nvSpPr>
        <p:spPr>
          <a:xfrm>
            <a:off x="0" y="2253207"/>
            <a:ext cx="2958600" cy="1375200"/>
          </a:xfrm>
          <a:prstGeom prst="roundRect">
            <a:avLst>
              <a:gd fmla="val 1525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65700" lIns="65700" spcFirstLastPara="1" rIns="65700" wrap="square" tIns="6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>
            <a:off x="133988" y="2392931"/>
            <a:ext cx="402300" cy="419400"/>
          </a:xfrm>
          <a:prstGeom prst="roundRect">
            <a:avLst>
              <a:gd fmla="val 15668713" name="adj"/>
            </a:avLst>
          </a:prstGeom>
          <a:solidFill>
            <a:srgbClr val="E04F00"/>
          </a:solidFill>
          <a:ln>
            <a:noFill/>
          </a:ln>
        </p:spPr>
        <p:txBody>
          <a:bodyPr anchorCtr="0" anchor="ctr" bIns="65700" lIns="65700" spcFirstLastPara="1" rIns="65700" wrap="square" tIns="6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4593" y="2508185"/>
            <a:ext cx="180921" cy="188667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/>
          <p:nvPr/>
        </p:nvSpPr>
        <p:spPr>
          <a:xfrm>
            <a:off x="133988" y="2952001"/>
            <a:ext cx="1759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37"/>
              <a:buFont typeface="PT Serif"/>
              <a:buNone/>
            </a:pPr>
            <a:r>
              <a:rPr b="0" i="0" lang="ko" sz="1437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Book</a:t>
            </a:r>
            <a:endParaRPr b="0" i="0" sz="1437" u="none" cap="none" strike="noStrike"/>
          </a:p>
        </p:txBody>
      </p:sp>
      <p:sp>
        <p:nvSpPr>
          <p:cNvPr id="81" name="Google Shape;81;p14"/>
          <p:cNvSpPr/>
          <p:nvPr/>
        </p:nvSpPr>
        <p:spPr>
          <a:xfrm>
            <a:off x="133988" y="3265163"/>
            <a:ext cx="26907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078"/>
              <a:buFont typeface="DM Sans"/>
              <a:buNone/>
            </a:pPr>
            <a:r>
              <a:rPr b="0" i="0" lang="ko" sz="1077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도서 정보 객체 클래스</a:t>
            </a:r>
            <a:endParaRPr b="0" i="0" sz="1077" u="none" cap="none" strike="noStrike"/>
          </a:p>
        </p:txBody>
      </p:sp>
      <p:sp>
        <p:nvSpPr>
          <p:cNvPr id="82" name="Google Shape;82;p14"/>
          <p:cNvSpPr/>
          <p:nvPr/>
        </p:nvSpPr>
        <p:spPr>
          <a:xfrm>
            <a:off x="3092645" y="2253207"/>
            <a:ext cx="2958600" cy="1375200"/>
          </a:xfrm>
          <a:prstGeom prst="roundRect">
            <a:avLst>
              <a:gd fmla="val 1525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65700" lIns="65700" spcFirstLastPara="1" rIns="65700" wrap="square" tIns="6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4"/>
          <p:cNvSpPr/>
          <p:nvPr/>
        </p:nvSpPr>
        <p:spPr>
          <a:xfrm>
            <a:off x="3226633" y="2392931"/>
            <a:ext cx="402300" cy="419400"/>
          </a:xfrm>
          <a:prstGeom prst="roundRect">
            <a:avLst>
              <a:gd fmla="val 15668713" name="adj"/>
            </a:avLst>
          </a:prstGeom>
          <a:solidFill>
            <a:srgbClr val="E04F00"/>
          </a:solidFill>
          <a:ln>
            <a:noFill/>
          </a:ln>
        </p:spPr>
        <p:txBody>
          <a:bodyPr anchorCtr="0" anchor="ctr" bIns="65700" lIns="65700" spcFirstLastPara="1" rIns="65700" wrap="square" tIns="6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" name="Google Shape;8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37237" y="2508185"/>
            <a:ext cx="180921" cy="18866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4"/>
          <p:cNvSpPr/>
          <p:nvPr/>
        </p:nvSpPr>
        <p:spPr>
          <a:xfrm>
            <a:off x="3226633" y="2952001"/>
            <a:ext cx="1759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37"/>
              <a:buFont typeface="PT Serif"/>
              <a:buNone/>
            </a:pPr>
            <a:r>
              <a:rPr b="0" i="0" lang="ko" sz="1437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BookException</a:t>
            </a:r>
            <a:endParaRPr b="0" i="0" sz="1437" u="none" cap="none" strike="noStrike"/>
          </a:p>
        </p:txBody>
      </p:sp>
      <p:sp>
        <p:nvSpPr>
          <p:cNvPr id="86" name="Google Shape;86;p14"/>
          <p:cNvSpPr/>
          <p:nvPr/>
        </p:nvSpPr>
        <p:spPr>
          <a:xfrm>
            <a:off x="3226633" y="3265163"/>
            <a:ext cx="26907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078"/>
              <a:buFont typeface="DM Sans"/>
              <a:buNone/>
            </a:pPr>
            <a:r>
              <a:rPr b="0" i="0" lang="ko" sz="1077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사용자 정의 예외처리</a:t>
            </a:r>
            <a:endParaRPr b="0" i="0" sz="1077" u="none" cap="none" strike="noStrike"/>
          </a:p>
        </p:txBody>
      </p:sp>
      <p:sp>
        <p:nvSpPr>
          <p:cNvPr id="87" name="Google Shape;87;p14"/>
          <p:cNvSpPr/>
          <p:nvPr/>
        </p:nvSpPr>
        <p:spPr>
          <a:xfrm>
            <a:off x="6185290" y="2253207"/>
            <a:ext cx="2958600" cy="1375200"/>
          </a:xfrm>
          <a:prstGeom prst="roundRect">
            <a:avLst>
              <a:gd fmla="val 1525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65700" lIns="65700" spcFirstLastPara="1" rIns="65700" wrap="square" tIns="6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6319278" y="2392931"/>
            <a:ext cx="402300" cy="419400"/>
          </a:xfrm>
          <a:prstGeom prst="roundRect">
            <a:avLst>
              <a:gd fmla="val 15668713" name="adj"/>
            </a:avLst>
          </a:prstGeom>
          <a:solidFill>
            <a:srgbClr val="E04F00"/>
          </a:solidFill>
          <a:ln>
            <a:noFill/>
          </a:ln>
        </p:spPr>
        <p:txBody>
          <a:bodyPr anchorCtr="0" anchor="ctr" bIns="65700" lIns="65700" spcFirstLastPara="1" rIns="65700" wrap="square" tIns="6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" name="Google Shape;8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29882" y="2508185"/>
            <a:ext cx="180921" cy="18866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/>
          <p:nvPr/>
        </p:nvSpPr>
        <p:spPr>
          <a:xfrm>
            <a:off x="6319278" y="2952001"/>
            <a:ext cx="1759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37"/>
              <a:buFont typeface="PT Serif"/>
              <a:buNone/>
            </a:pPr>
            <a:r>
              <a:rPr b="0" i="0" lang="ko" sz="1437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ValidationUtil</a:t>
            </a:r>
            <a:endParaRPr b="0" i="0" sz="1437" u="none" cap="none" strike="noStrike"/>
          </a:p>
        </p:txBody>
      </p:sp>
      <p:sp>
        <p:nvSpPr>
          <p:cNvPr id="91" name="Google Shape;91;p14"/>
          <p:cNvSpPr/>
          <p:nvPr/>
        </p:nvSpPr>
        <p:spPr>
          <a:xfrm>
            <a:off x="6319278" y="3265163"/>
            <a:ext cx="26907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078"/>
              <a:buFont typeface="DM Sans"/>
              <a:buNone/>
            </a:pPr>
            <a:r>
              <a:rPr b="0" i="0" lang="ko" sz="1077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정적 메서드 클래스</a:t>
            </a:r>
            <a:endParaRPr b="0" i="0" sz="1077" u="none" cap="none" strike="noStrike"/>
          </a:p>
        </p:txBody>
      </p:sp>
      <p:sp>
        <p:nvSpPr>
          <p:cNvPr id="92" name="Google Shape;92;p14"/>
          <p:cNvSpPr/>
          <p:nvPr/>
        </p:nvSpPr>
        <p:spPr>
          <a:xfrm>
            <a:off x="0" y="3768274"/>
            <a:ext cx="9144000" cy="1375200"/>
          </a:xfrm>
          <a:prstGeom prst="roundRect">
            <a:avLst>
              <a:gd fmla="val 1525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65700" lIns="65700" spcFirstLastPara="1" rIns="65700" wrap="square" tIns="6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133988" y="3907999"/>
            <a:ext cx="402300" cy="419400"/>
          </a:xfrm>
          <a:prstGeom prst="roundRect">
            <a:avLst>
              <a:gd fmla="val 15668713" name="adj"/>
            </a:avLst>
          </a:prstGeom>
          <a:solidFill>
            <a:srgbClr val="E04F00"/>
          </a:solidFill>
          <a:ln>
            <a:noFill/>
          </a:ln>
        </p:spPr>
        <p:txBody>
          <a:bodyPr anchorCtr="0" anchor="ctr" bIns="65700" lIns="65700" spcFirstLastPara="1" rIns="65700" wrap="square" tIns="6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" name="Google Shape;94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44593" y="4023252"/>
            <a:ext cx="180921" cy="188667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133988" y="4467068"/>
            <a:ext cx="1759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37"/>
              <a:buFont typeface="PT Serif"/>
              <a:buNone/>
            </a:pPr>
            <a:r>
              <a:rPr b="0" i="0" lang="ko" sz="1437" u="none" cap="none" strike="noStrik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LibraryApp</a:t>
            </a:r>
            <a:endParaRPr b="0" i="0" sz="1437" u="none" cap="none" strike="noStrike"/>
          </a:p>
        </p:txBody>
      </p:sp>
      <p:sp>
        <p:nvSpPr>
          <p:cNvPr id="96" name="Google Shape;96;p14"/>
          <p:cNvSpPr/>
          <p:nvPr/>
        </p:nvSpPr>
        <p:spPr>
          <a:xfrm>
            <a:off x="133988" y="4780230"/>
            <a:ext cx="88761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078"/>
              <a:buFont typeface="DM Sans"/>
              <a:buNone/>
            </a:pPr>
            <a:r>
              <a:rPr b="0" i="0" lang="ko" sz="1077" u="none" cap="none" strike="noStrik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실행 클래스</a:t>
            </a:r>
            <a:endParaRPr b="0" i="0" sz="1077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Book Class</a:t>
            </a:r>
            <a:endParaRPr b="1"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311700" y="1137500"/>
            <a:ext cx="4029900" cy="32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정보를 안전하게 보호하는 도서 객체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모든 field를 접근제한자 </a:t>
            </a:r>
            <a:r>
              <a:rPr b="1" lang="ko"/>
              <a:t>private</a:t>
            </a:r>
            <a:r>
              <a:rPr lang="ko"/>
              <a:t>로 선언하여 외부의 직접 접근을 차단하고, Getter, Setter 메서드를 통해서만 데이터를 조작하게 하여 객체의 정보를 보호</a:t>
            </a:r>
            <a:endParaRPr/>
          </a:p>
        </p:txBody>
      </p:sp>
      <p:pic>
        <p:nvPicPr>
          <p:cNvPr id="103" name="Google Shape;103;p15" title="BOo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3825" y="0"/>
            <a:ext cx="48801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120"/>
              <a:t>LibraryServiceContract (interface)</a:t>
            </a:r>
            <a:endParaRPr b="1" sz="2120"/>
          </a:p>
        </p:txBody>
      </p:sp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311700" y="1152475"/>
            <a:ext cx="4469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도서관 기능의 설계도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도서 등록, 대여, 반납 등 반드시 구현해야 할 핵심 기능의 명세(contract)를 정의하여, </a:t>
            </a:r>
            <a:r>
              <a:rPr b="1" lang="ko"/>
              <a:t>구현체와의 결합도를 낮추고 유연한 설계</a:t>
            </a:r>
            <a:r>
              <a:rPr lang="ko"/>
              <a:t>를 가능하게 함</a:t>
            </a:r>
            <a:endParaRPr/>
          </a:p>
        </p:txBody>
      </p:sp>
      <p:pic>
        <p:nvPicPr>
          <p:cNvPr id="110" name="Google Shape;110;p16" title="인터페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8725" y="548500"/>
            <a:ext cx="4058400" cy="408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LibraryService Class</a:t>
            </a:r>
            <a:endParaRPr b="1"/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도서관 업무를 처리하는 핵심 담당자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/>
              <a:t>인터페이스</a:t>
            </a:r>
            <a:r>
              <a:rPr b="1" lang="ko"/>
              <a:t>를 통해 정의된 규격</a:t>
            </a:r>
            <a:r>
              <a:rPr lang="ko"/>
              <a:t>을 바탕으로, 실제 대여 가능 여부 판단 및 예외 발생 등 </a:t>
            </a:r>
            <a:r>
              <a:rPr b="1" lang="ko"/>
              <a:t>실질적인 도서 관리 규칙을 수행</a:t>
            </a:r>
            <a:endParaRPr b="1"/>
          </a:p>
        </p:txBody>
      </p:sp>
      <p:pic>
        <p:nvPicPr>
          <p:cNvPr id="117" name="Google Shape;117;p17" title="서비스클래스1 수정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0"/>
            <a:ext cx="4572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8" title="서비스클래스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8275" y="0"/>
            <a:ext cx="62257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9" title="서비스클래스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3925" y="0"/>
            <a:ext cx="54500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0" title="서비스클래스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4525" y="0"/>
            <a:ext cx="72294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Library</a:t>
            </a:r>
            <a:r>
              <a:rPr b="1" lang="ko"/>
              <a:t>Repository Class</a:t>
            </a:r>
            <a:endParaRPr b="1"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311700" y="1152475"/>
            <a:ext cx="490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/>
              <a:t>도서 데이터를 관리하는 저장소</a:t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500"/>
              <a:t>자바의 </a:t>
            </a:r>
            <a:r>
              <a:rPr b="1" lang="ko" sz="1500"/>
              <a:t>ArrayList</a:t>
            </a:r>
            <a:r>
              <a:rPr lang="ko" sz="1500"/>
              <a:t>를 활용하여 도서 데이터 </a:t>
            </a:r>
            <a:r>
              <a:rPr b="1" lang="ko" sz="1500"/>
              <a:t>저장, 조회, 관리</a:t>
            </a:r>
            <a:r>
              <a:rPr lang="ko" sz="1500"/>
              <a:t>를 할 수 있는 </a:t>
            </a:r>
            <a:r>
              <a:rPr b="1" lang="ko" sz="1500"/>
              <a:t>저장소 역활</a:t>
            </a:r>
            <a:endParaRPr b="1" sz="1500"/>
          </a:p>
        </p:txBody>
      </p:sp>
      <p:pic>
        <p:nvPicPr>
          <p:cNvPr id="139" name="Google Shape;139;p21" title="리퍼지클래스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0425" y="0"/>
            <a:ext cx="392357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BookException Class</a:t>
            </a:r>
            <a:endParaRPr b="1"/>
          </a:p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도서관 전용 오류 처리기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자바의 표준 예외(Exception)을 상속받아, ‘이미 대여 중’, ‘존재하지 않는 ID’ 등 </a:t>
            </a:r>
            <a:r>
              <a:rPr b="1" lang="ko"/>
              <a:t>도서관 시스템만의 구체적인 예외 상황</a:t>
            </a:r>
            <a:r>
              <a:rPr lang="ko"/>
              <a:t>을 명확하게 정의하고 처리</a:t>
            </a:r>
            <a:endParaRPr/>
          </a:p>
        </p:txBody>
      </p:sp>
      <p:pic>
        <p:nvPicPr>
          <p:cNvPr id="146" name="Google Shape;146;p22" title="사용자예외처리클래스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9150" y="1152475"/>
            <a:ext cx="410315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ValidationUtil</a:t>
            </a:r>
            <a:r>
              <a:rPr b="1" lang="ko"/>
              <a:t> Class</a:t>
            </a:r>
            <a:endParaRPr b="1"/>
          </a:p>
        </p:txBody>
      </p:sp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311700" y="1152475"/>
            <a:ext cx="3936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입력값 검사 도구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객체 생성 없이 어디서든 사용할 수 있도록 </a:t>
            </a:r>
            <a:r>
              <a:rPr b="1" lang="ko"/>
              <a:t>static</a:t>
            </a:r>
            <a:r>
              <a:rPr lang="ko"/>
              <a:t>으로 구현하여, 입력 데이터의 공백 여부 등 </a:t>
            </a:r>
            <a:r>
              <a:rPr b="1" lang="ko"/>
              <a:t>유효성 검사를 효율적으로 수행</a:t>
            </a:r>
            <a:endParaRPr/>
          </a:p>
        </p:txBody>
      </p:sp>
      <p:pic>
        <p:nvPicPr>
          <p:cNvPr id="153" name="Google Shape;153;p23" title="정적클래스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8150" y="445025"/>
            <a:ext cx="4584150" cy="469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LibraryApp Class</a:t>
            </a:r>
            <a:endParaRPr b="1"/>
          </a:p>
        </p:txBody>
      </p:sp>
      <p:sp>
        <p:nvSpPr>
          <p:cNvPr id="159" name="Google Shape;159;p24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프로그램 시작과 사용자 화면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사용자의 입력을 받아 적절한 서비스를 호출하고, 처리 결과나 오류 메시지를 화면에 출력하는 </a:t>
            </a:r>
            <a:r>
              <a:rPr b="1" lang="ko"/>
              <a:t>사용자 인터페이스</a:t>
            </a:r>
            <a:r>
              <a:rPr b="1" lang="ko"/>
              <a:t>(UI) 역활</a:t>
            </a:r>
            <a:r>
              <a:rPr lang="ko"/>
              <a:t>을 담당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4" title="메 인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2807" y="0"/>
            <a:ext cx="437118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5" title="메인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58044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기능 시연</a:t>
            </a:r>
            <a:endParaRPr b="1"/>
          </a:p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/>
              <a:t>도서 목록 조회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26" title="처음 실행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4"/>
            <a:ext cx="2674025" cy="149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6" title="1번 도서 등록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8563" y="2380238"/>
            <a:ext cx="1666875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6" title="2번 도서대여(string).png"/>
          <p:cNvPicPr preferRelativeResize="0"/>
          <p:nvPr/>
        </p:nvPicPr>
        <p:blipFill rotWithShape="1">
          <a:blip r:embed="rId5">
            <a:alphaModFix/>
          </a:blip>
          <a:srcRect b="0" l="0" r="0" t="53253"/>
          <a:stretch/>
        </p:blipFill>
        <p:spPr>
          <a:xfrm>
            <a:off x="6984450" y="1175306"/>
            <a:ext cx="1847850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6" title="2도서 대여 숫자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41575" y="2234175"/>
            <a:ext cx="193357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6" title="3 도서 조회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1700" y="3654463"/>
            <a:ext cx="44958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6" title="4 도서 반납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93975" y="3818738"/>
            <a:ext cx="1828800" cy="752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8" name="Google Shape;178;p26"/>
          <p:cNvCxnSpPr/>
          <p:nvPr/>
        </p:nvCxnSpPr>
        <p:spPr>
          <a:xfrm>
            <a:off x="1335025" y="2809775"/>
            <a:ext cx="0" cy="60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" name="Google Shape;179;p26"/>
          <p:cNvCxnSpPr/>
          <p:nvPr/>
        </p:nvCxnSpPr>
        <p:spPr>
          <a:xfrm>
            <a:off x="2967975" y="1442425"/>
            <a:ext cx="4028100" cy="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p26"/>
          <p:cNvCxnSpPr/>
          <p:nvPr/>
        </p:nvCxnSpPr>
        <p:spPr>
          <a:xfrm>
            <a:off x="2949500" y="2297500"/>
            <a:ext cx="755400" cy="39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p26"/>
          <p:cNvCxnSpPr>
            <a:endCxn id="177" idx="1"/>
          </p:cNvCxnSpPr>
          <p:nvPr/>
        </p:nvCxnSpPr>
        <p:spPr>
          <a:xfrm>
            <a:off x="2967975" y="2085375"/>
            <a:ext cx="4026000" cy="2109600"/>
          </a:xfrm>
          <a:prstGeom prst="bentConnector3">
            <a:avLst>
              <a:gd fmla="val 7061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" name="Google Shape;182;p26"/>
          <p:cNvSpPr txBox="1"/>
          <p:nvPr/>
        </p:nvSpPr>
        <p:spPr>
          <a:xfrm>
            <a:off x="1335025" y="2881625"/>
            <a:ext cx="1055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2"/>
                </a:solidFill>
              </a:rPr>
              <a:t>도서 목록 조회</a:t>
            </a:r>
            <a:endParaRPr b="1" sz="1100">
              <a:solidFill>
                <a:schemeClr val="dk2"/>
              </a:solidFill>
            </a:endParaRPr>
          </a:p>
        </p:txBody>
      </p:sp>
      <p:sp>
        <p:nvSpPr>
          <p:cNvPr id="183" name="Google Shape;183;p26"/>
          <p:cNvSpPr txBox="1"/>
          <p:nvPr/>
        </p:nvSpPr>
        <p:spPr>
          <a:xfrm rot="1794297">
            <a:off x="2730714" y="2550051"/>
            <a:ext cx="985633" cy="3539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2"/>
                </a:solidFill>
              </a:rPr>
              <a:t>도서 </a:t>
            </a:r>
            <a:r>
              <a:rPr b="1" lang="ko" sz="1100">
                <a:solidFill>
                  <a:schemeClr val="dk2"/>
                </a:solidFill>
              </a:rPr>
              <a:t>등록</a:t>
            </a:r>
            <a:endParaRPr b="1" sz="1100">
              <a:solidFill>
                <a:schemeClr val="dk2"/>
              </a:solidFill>
            </a:endParaRPr>
          </a:p>
        </p:txBody>
      </p:sp>
      <p:sp>
        <p:nvSpPr>
          <p:cNvPr id="184" name="Google Shape;184;p26"/>
          <p:cNvSpPr txBox="1"/>
          <p:nvPr/>
        </p:nvSpPr>
        <p:spPr>
          <a:xfrm>
            <a:off x="3774575" y="1459225"/>
            <a:ext cx="1055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2"/>
                </a:solidFill>
              </a:rPr>
              <a:t>도서 </a:t>
            </a:r>
            <a:r>
              <a:rPr b="1" lang="ko" sz="1100">
                <a:solidFill>
                  <a:schemeClr val="dk2"/>
                </a:solidFill>
              </a:rPr>
              <a:t>대여</a:t>
            </a:r>
            <a:endParaRPr b="1" sz="1100">
              <a:solidFill>
                <a:schemeClr val="dk2"/>
              </a:solidFill>
            </a:endParaRPr>
          </a:p>
        </p:txBody>
      </p:sp>
      <p:sp>
        <p:nvSpPr>
          <p:cNvPr id="185" name="Google Shape;185;p26"/>
          <p:cNvSpPr txBox="1"/>
          <p:nvPr/>
        </p:nvSpPr>
        <p:spPr>
          <a:xfrm>
            <a:off x="5815700" y="4194975"/>
            <a:ext cx="1055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2"/>
                </a:solidFill>
              </a:rPr>
              <a:t>도서 </a:t>
            </a:r>
            <a:r>
              <a:rPr b="1" lang="ko" sz="1100">
                <a:solidFill>
                  <a:schemeClr val="dk2"/>
                </a:solidFill>
              </a:rPr>
              <a:t>반납</a:t>
            </a:r>
            <a:endParaRPr b="1"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기능 시연(사용자 정의 예외 처리)</a:t>
            </a:r>
            <a:endParaRPr b="1"/>
          </a:p>
        </p:txBody>
      </p:sp>
      <p:sp>
        <p:nvSpPr>
          <p:cNvPr id="191" name="Google Shape;191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27" title="이상한 거 입력했을 때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2" y="1152475"/>
            <a:ext cx="3388100" cy="150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7" title="2 예외 처리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3906" y="1270956"/>
            <a:ext cx="4465473" cy="119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7" title="반납 예외처리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25" y="2963400"/>
            <a:ext cx="3300100" cy="119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7" title="이미 등록된 책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57805" y="2963400"/>
            <a:ext cx="2621749" cy="150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